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49a3476ebd4385" /><Relationship Type="http://schemas.openxmlformats.org/officeDocument/2006/relationships/extended-properties" Target="/docProps/app.xml" Id="Ra53861ffeff54add" /><Relationship Type="http://schemas.openxmlformats.org/officeDocument/2006/relationships/officeDocument" Target="/ppt/presentation.xml" Id="R643c5f6b6ecf49ee" /></Relationships>
</file>

<file path=ppt/presentation.xml><?xml version="1.0" encoding="utf-8"?>
<p:presentation xmlns:p="http://schemas.openxmlformats.org/presentationml/2006/main">
  <p:sldMasterIdLst>
    <p:sldMasterId xmlns:r="http://schemas.openxmlformats.org/officeDocument/2006/relationships" id="2147483648" r:id="R92dc0399714046ff"/>
  </p:sldMasterIdLst>
  <p:notesMasterIdLst>
    <p:notesMasterId xmlns:r="http://schemas.openxmlformats.org/officeDocument/2006/relationships" r:id="Rbc015eba32604a21"/>
  </p:notesMasterIdLst>
  <p:sldIdLst>
    <p:sldId xmlns:r="http://schemas.openxmlformats.org/officeDocument/2006/relationships" id="256" r:id="Recf0a4bf9cf24dd1"/>
  </p:sldIdLst>
  <p:sldSz cx="11430000" cy="64293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b5d53e87a6411a" /><Relationship Type="http://schemas.openxmlformats.org/officeDocument/2006/relationships/slideMaster" Target="/ppt/slideMasters/slideMaster1.xml" Id="R92dc0399714046ff" /><Relationship Type="http://schemas.openxmlformats.org/officeDocument/2006/relationships/notesMaster" Target="/ppt/notesMasters/notesMaster1.xml" Id="Rbc015eba32604a21" /><Relationship Type="http://schemas.openxmlformats.org/officeDocument/2006/relationships/presProps" Target="/ppt/presProps.xml" Id="Re1c68f18bc464771" /><Relationship Type="http://schemas.openxmlformats.org/officeDocument/2006/relationships/tableStyles" Target="/ppt/tableStyles.xml" Id="R91525b7cab6a4704" /><Relationship Type="http://schemas.openxmlformats.org/officeDocument/2006/relationships/slide" Target="/ppt/slides/slide1.xml" Id="Recf0a4bf9cf24d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e611ac896a48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887b5079d84f3a" /><Relationship Type="http://schemas.openxmlformats.org/officeDocument/2006/relationships/notesMaster" Target="/ppt/notesMasters/notesMaster1.xml" Id="Rdcf98f104b3d43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dự án CareS, nhóm thực hiện bốn cấp kiểm thử. Unit Test kiểm tra logic service, validation và xử lý exception, với 1.440 test đều đạt. Integration Test kiểm tra sự phối hợp giữa các thành phần và các luồng nghiệp vụ, Round 2 đạt 189 trên 189. System Test kiểm tra các luồng hoàn chỉnh theo từng vai trò như lễ tân, bác sĩ, y tá và thu ngân, Round 2 đạt 60 trên 60. Cuối cùng, Acceptance Test kiểm tra các chức năng người dùng trực tiếp thao tác trên giao diện, gồm 110 trường hợp và tất cả đều đạt.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de3aee237a45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8100bd853f4dc9" /><Relationship Type="http://schemas.openxmlformats.org/officeDocument/2006/relationships/slideLayout" Target="/ppt/slideLayouts/slideLayout1.xml" Id="Rd60082f8734141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0082f8734141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65a8343cf742fb" /><Relationship Type="http://schemas.openxmlformats.org/officeDocument/2006/relationships/image" Target="/ppt/media/image.png" Id="R97fde7615d7d4cbd" /><Relationship Type="http://schemas.openxmlformats.org/officeDocument/2006/relationships/notesSlide" Target="/ppt/notesSlides/notesSlide1.xml" Id="R6f189207182e420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7fde7615d7d4cbd"/>
          <a:srcRect xmlns:a="http://schemas.openxmlformats.org/drawingml/2006/main" l="823" t="0" r="823" b="0"/>
          <a:stretch xmlns:a="http://schemas.openxmlformats.org/drawingml/2006/main">
            <a:fillRect l="0" t="0" r="0" b="0"/>
          </a:stretch>
        </p:blipFill>
        <p:spPr>
          <a:xfrm xmlns:a="http://schemas.openxmlformats.org/drawingml/2006/main">
            <a:off x="0" y="0"/>
            <a:ext cx="11430000" cy="64293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B2E2889-F8CB-4B93-8F9C-B8DA20508002}"/>
              </a:ext>
            </a:extLst>
          </p:cNvPr>
          <p:cNvSpPr>
            <a:spLocks xmlns:a="http://schemas.openxmlformats.org/drawingml/2006/main" noGrp="1"/>
          </p:cNvSpPr>
          <p:nvPr/>
        </p:nvSpPr>
        <p:spPr>
          <a:xfrm xmlns:a="http://schemas.openxmlformats.org/drawingml/2006/main">
            <a:off x="3714750" y="438150"/>
            <a:ext cx="4000500" cy="7048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0784B9A-24BC-4B78-8014-BF7FFA40866E}"/>
              </a:ext>
            </a:extLst>
          </p:cNvPr>
          <p:cNvSpPr>
            <a:spLocks xmlns:a="http://schemas.openxmlformats.org/drawingml/2006/main" noGrp="1"/>
          </p:cNvSpPr>
          <p:nvPr/>
        </p:nvSpPr>
        <p:spPr>
          <a:xfrm xmlns:a="http://schemas.openxmlformats.org/drawingml/2006/main">
            <a:off x="3238500" y="5429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202020"/>
                </a:solidFill>
                <a:latin typeface="Arial"/>
                <a:ea typeface="Arial"/>
                <a:cs typeface="Arial"/>
              </a:defRPr>
            </a:pPr>
            <a:r>
              <a:rPr sz="2550" b="1">
                <a:solidFill>
                  <a:srgbClr val="202020"/>
                </a:solidFill>
                <a:latin typeface="Arial"/>
                <a:ea typeface="Arial"/>
                <a:cs typeface="Arial"/>
              </a:rPr>
              <a:t>Testing Overview</a:t>
            </a:r>
          </a:p>
        </p:txBody>
      </p:sp>
      <p:sp>
        <p:nvSpPr>
          <p:cNvPr id="4" name="">
            <a:extLst xmlns:a="http://schemas.openxmlformats.org/drawingml/2006/main">
              <a:ext uri="{FF2B5EF4-FFF2-40B4-BE49-F238E27FC236}">
                <a16:creationId xmlns:a16="http://schemas.microsoft.com/office/drawing/2014/main" id="{8096A014-F5B3-4DAA-A303-6807F3FDE9B7}"/>
              </a:ext>
            </a:extLst>
          </p:cNvPr>
          <p:cNvSpPr>
            <a:spLocks xmlns:a="http://schemas.openxmlformats.org/drawingml/2006/main" noGrp="1"/>
          </p:cNvSpPr>
          <p:nvPr/>
        </p:nvSpPr>
        <p:spPr>
          <a:xfrm xmlns:a="http://schemas.openxmlformats.org/drawingml/2006/main">
            <a:off x="1162050" y="1952625"/>
            <a:ext cx="2143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35B7C7"/>
                </a:solidFill>
                <a:latin typeface="Arial"/>
                <a:ea typeface="Arial"/>
                <a:cs typeface="Arial"/>
              </a:defRPr>
            </a:pPr>
            <a:r>
              <a:rPr sz="2175" b="1">
                <a:solidFill>
                  <a:srgbClr val="35B7C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871295F-AA55-4DC4-ACCF-552AD358A924}"/>
              </a:ext>
            </a:extLst>
          </p:cNvPr>
          <p:cNvSpPr>
            <a:spLocks xmlns:a="http://schemas.openxmlformats.org/drawingml/2006/main" noGrp="1"/>
          </p:cNvSpPr>
          <p:nvPr/>
        </p:nvSpPr>
        <p:spPr>
          <a:xfrm xmlns:a="http://schemas.openxmlformats.org/drawingml/2006/main">
            <a:off x="1162050" y="23907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Unit Test</a:t>
            </a:r>
          </a:p>
        </p:txBody>
      </p:sp>
      <p:sp>
        <p:nvSpPr>
          <p:cNvPr id="6" name="">
            <a:extLst xmlns:a="http://schemas.openxmlformats.org/drawingml/2006/main">
              <a:ext uri="{FF2B5EF4-FFF2-40B4-BE49-F238E27FC236}">
                <a16:creationId xmlns:a16="http://schemas.microsoft.com/office/drawing/2014/main" id="{C7EF973E-28FF-417E-8DD2-06E48FB520EC}"/>
              </a:ext>
            </a:extLst>
          </p:cNvPr>
          <p:cNvSpPr>
            <a:spLocks xmlns:a="http://schemas.openxmlformats.org/drawingml/2006/main" noGrp="1"/>
          </p:cNvSpPr>
          <p:nvPr/>
        </p:nvSpPr>
        <p:spPr>
          <a:xfrm xmlns:a="http://schemas.openxmlformats.org/drawingml/2006/main">
            <a:off x="1162050" y="2886075"/>
            <a:ext cx="514350" cy="38100"/>
          </a:xfrm>
          <a:prstGeom xmlns:a="http://schemas.openxmlformats.org/drawingml/2006/main" prst="rect">
            <a:avLst/>
          </a:prstGeom>
          <a:solidFill xmlns:a="http://schemas.openxmlformats.org/drawingml/2006/main">
            <a:srgbClr val="35B7C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B60502-3AD5-4171-B870-EE74D523419D}"/>
              </a:ext>
            </a:extLst>
          </p:cNvPr>
          <p:cNvSpPr>
            <a:spLocks xmlns:a="http://schemas.openxmlformats.org/drawingml/2006/main" noGrp="1"/>
          </p:cNvSpPr>
          <p:nvPr/>
        </p:nvSpPr>
        <p:spPr>
          <a:xfrm xmlns:a="http://schemas.openxmlformats.org/drawingml/2006/main">
            <a:off x="1162050" y="310515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Service logic, validation</a:t>
            </a:r>
          </a:p>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and exception handling</a:t>
            </a:r>
          </a:p>
        </p:txBody>
      </p:sp>
      <p:sp>
        <p:nvSpPr>
          <p:cNvPr id="8" name="">
            <a:extLst xmlns:a="http://schemas.openxmlformats.org/drawingml/2006/main">
              <a:ext uri="{FF2B5EF4-FFF2-40B4-BE49-F238E27FC236}">
                <a16:creationId xmlns:a16="http://schemas.microsoft.com/office/drawing/2014/main" id="{79F56CEE-5E64-4F55-945B-E4D5CF151C03}"/>
              </a:ext>
            </a:extLst>
          </p:cNvPr>
          <p:cNvSpPr>
            <a:spLocks xmlns:a="http://schemas.openxmlformats.org/drawingml/2006/main" noGrp="1"/>
          </p:cNvSpPr>
          <p:nvPr/>
        </p:nvSpPr>
        <p:spPr>
          <a:xfrm xmlns:a="http://schemas.openxmlformats.org/drawingml/2006/main">
            <a:off x="1162050" y="40195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078E96"/>
                </a:solidFill>
                <a:latin typeface="Arial"/>
                <a:ea typeface="Arial"/>
                <a:cs typeface="Arial"/>
              </a:defRPr>
            </a:pPr>
            <a:r>
              <a:rPr sz="1275" b="1">
                <a:solidFill>
                  <a:srgbClr val="078E96"/>
                </a:solidFill>
                <a:latin typeface="Arial"/>
                <a:ea typeface="Arial"/>
                <a:cs typeface="Arial"/>
              </a:rPr>
              <a:t>1,440 / 1,440 passed</a:t>
            </a:r>
          </a:p>
        </p:txBody>
      </p:sp>
      <p:sp>
        <p:nvSpPr>
          <p:cNvPr id="9" name="">
            <a:extLst xmlns:a="http://schemas.openxmlformats.org/drawingml/2006/main">
              <a:ext uri="{FF2B5EF4-FFF2-40B4-BE49-F238E27FC236}">
                <a16:creationId xmlns:a16="http://schemas.microsoft.com/office/drawing/2014/main" id="{C0AD7CC3-9A0E-42A8-A3A3-D834332C4C4C}"/>
              </a:ext>
            </a:extLst>
          </p:cNvPr>
          <p:cNvSpPr>
            <a:spLocks xmlns:a="http://schemas.openxmlformats.org/drawingml/2006/main" noGrp="1"/>
          </p:cNvSpPr>
          <p:nvPr/>
        </p:nvSpPr>
        <p:spPr>
          <a:xfrm xmlns:a="http://schemas.openxmlformats.org/drawingml/2006/main">
            <a:off x="3476625" y="1952625"/>
            <a:ext cx="2143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35B7C7"/>
                </a:solidFill>
                <a:latin typeface="Arial"/>
                <a:ea typeface="Arial"/>
                <a:cs typeface="Arial"/>
              </a:defRPr>
            </a:pPr>
            <a:r>
              <a:rPr sz="2175" b="1">
                <a:solidFill>
                  <a:srgbClr val="35B7C7"/>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BFD32198-D84F-4135-A4C6-5C2DE82035A7}"/>
              </a:ext>
            </a:extLst>
          </p:cNvPr>
          <p:cNvSpPr>
            <a:spLocks xmlns:a="http://schemas.openxmlformats.org/drawingml/2006/main" noGrp="1"/>
          </p:cNvSpPr>
          <p:nvPr/>
        </p:nvSpPr>
        <p:spPr>
          <a:xfrm xmlns:a="http://schemas.openxmlformats.org/drawingml/2006/main">
            <a:off x="3476625" y="23907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Integration Test</a:t>
            </a:r>
          </a:p>
        </p:txBody>
      </p:sp>
      <p:sp>
        <p:nvSpPr>
          <p:cNvPr id="11" name="">
            <a:extLst xmlns:a="http://schemas.openxmlformats.org/drawingml/2006/main">
              <a:ext uri="{FF2B5EF4-FFF2-40B4-BE49-F238E27FC236}">
                <a16:creationId xmlns:a16="http://schemas.microsoft.com/office/drawing/2014/main" id="{76A6FAF0-3C5A-4547-9EA1-AB2997B448CE}"/>
              </a:ext>
            </a:extLst>
          </p:cNvPr>
          <p:cNvSpPr>
            <a:spLocks xmlns:a="http://schemas.openxmlformats.org/drawingml/2006/main" noGrp="1"/>
          </p:cNvSpPr>
          <p:nvPr/>
        </p:nvSpPr>
        <p:spPr>
          <a:xfrm xmlns:a="http://schemas.openxmlformats.org/drawingml/2006/main">
            <a:off x="3476625" y="2886075"/>
            <a:ext cx="514350" cy="38100"/>
          </a:xfrm>
          <a:prstGeom xmlns:a="http://schemas.openxmlformats.org/drawingml/2006/main" prst="rect">
            <a:avLst/>
          </a:prstGeom>
          <a:solidFill xmlns:a="http://schemas.openxmlformats.org/drawingml/2006/main">
            <a:srgbClr val="35B7C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C21284-40B6-4C21-975E-2ECB8980F156}"/>
              </a:ext>
            </a:extLst>
          </p:cNvPr>
          <p:cNvSpPr>
            <a:spLocks xmlns:a="http://schemas.openxmlformats.org/drawingml/2006/main" noGrp="1"/>
          </p:cNvSpPr>
          <p:nvPr/>
        </p:nvSpPr>
        <p:spPr>
          <a:xfrm xmlns:a="http://schemas.openxmlformats.org/drawingml/2006/main">
            <a:off x="3476625" y="310515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Component contracts and</a:t>
            </a:r>
          </a:p>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connected workflows</a:t>
            </a:r>
          </a:p>
        </p:txBody>
      </p:sp>
      <p:sp>
        <p:nvSpPr>
          <p:cNvPr id="13" name="">
            <a:extLst xmlns:a="http://schemas.openxmlformats.org/drawingml/2006/main">
              <a:ext uri="{FF2B5EF4-FFF2-40B4-BE49-F238E27FC236}">
                <a16:creationId xmlns:a16="http://schemas.microsoft.com/office/drawing/2014/main" id="{8F68A0F8-C934-4ED3-B1F7-0C03DBDC6D7F}"/>
              </a:ext>
            </a:extLst>
          </p:cNvPr>
          <p:cNvSpPr>
            <a:spLocks xmlns:a="http://schemas.openxmlformats.org/drawingml/2006/main" noGrp="1"/>
          </p:cNvSpPr>
          <p:nvPr/>
        </p:nvSpPr>
        <p:spPr>
          <a:xfrm xmlns:a="http://schemas.openxmlformats.org/drawingml/2006/main">
            <a:off x="3476625" y="40195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074"/>
          </a:bodyPr>
          <a:lstStyle xmlns:a="http://schemas.openxmlformats.org/drawingml/2006/main"/>
          <a:p xmlns:a="http://schemas.openxmlformats.org/drawingml/2006/main">
            <a:pPr algn="l">
              <a:defRPr sz="1275" b="1">
                <a:solidFill>
                  <a:srgbClr val="078E96"/>
                </a:solidFill>
                <a:latin typeface="Arial"/>
                <a:ea typeface="Arial"/>
                <a:cs typeface="Arial"/>
              </a:defRPr>
            </a:pPr>
            <a:r>
              <a:rPr sz="1275" b="1">
                <a:solidFill>
                  <a:srgbClr val="078E96"/>
                </a:solidFill>
                <a:latin typeface="Arial"/>
                <a:ea typeface="Arial"/>
                <a:cs typeface="Arial"/>
              </a:rPr>
              <a:t>Round 2: 189 / 189 passed</a:t>
            </a:r>
          </a:p>
        </p:txBody>
      </p:sp>
      <p:sp>
        <p:nvSpPr>
          <p:cNvPr id="14" name="">
            <a:extLst xmlns:a="http://schemas.openxmlformats.org/drawingml/2006/main">
              <a:ext uri="{FF2B5EF4-FFF2-40B4-BE49-F238E27FC236}">
                <a16:creationId xmlns:a16="http://schemas.microsoft.com/office/drawing/2014/main" id="{4B837AAC-4A64-4137-9541-7E9514BAD082}"/>
              </a:ext>
            </a:extLst>
          </p:cNvPr>
          <p:cNvSpPr>
            <a:spLocks xmlns:a="http://schemas.openxmlformats.org/drawingml/2006/main" noGrp="1"/>
          </p:cNvSpPr>
          <p:nvPr/>
        </p:nvSpPr>
        <p:spPr>
          <a:xfrm xmlns:a="http://schemas.openxmlformats.org/drawingml/2006/main">
            <a:off x="5791200" y="1952625"/>
            <a:ext cx="2143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35B7C7"/>
                </a:solidFill>
                <a:latin typeface="Arial"/>
                <a:ea typeface="Arial"/>
                <a:cs typeface="Arial"/>
              </a:defRPr>
            </a:pPr>
            <a:r>
              <a:rPr sz="2175" b="1">
                <a:solidFill>
                  <a:srgbClr val="35B7C7"/>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CB609C4A-06A6-494C-8050-C3A849717DB4}"/>
              </a:ext>
            </a:extLst>
          </p:cNvPr>
          <p:cNvSpPr>
            <a:spLocks xmlns:a="http://schemas.openxmlformats.org/drawingml/2006/main" noGrp="1"/>
          </p:cNvSpPr>
          <p:nvPr/>
        </p:nvSpPr>
        <p:spPr>
          <a:xfrm xmlns:a="http://schemas.openxmlformats.org/drawingml/2006/main">
            <a:off x="5791200" y="23907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System Test</a:t>
            </a:r>
          </a:p>
        </p:txBody>
      </p:sp>
      <p:sp>
        <p:nvSpPr>
          <p:cNvPr id="16" name="">
            <a:extLst xmlns:a="http://schemas.openxmlformats.org/drawingml/2006/main">
              <a:ext uri="{FF2B5EF4-FFF2-40B4-BE49-F238E27FC236}">
                <a16:creationId xmlns:a16="http://schemas.microsoft.com/office/drawing/2014/main" id="{BA8766F6-09A9-4B8F-B713-2B5BDFA57711}"/>
              </a:ext>
            </a:extLst>
          </p:cNvPr>
          <p:cNvSpPr>
            <a:spLocks xmlns:a="http://schemas.openxmlformats.org/drawingml/2006/main" noGrp="1"/>
          </p:cNvSpPr>
          <p:nvPr/>
        </p:nvSpPr>
        <p:spPr>
          <a:xfrm xmlns:a="http://schemas.openxmlformats.org/drawingml/2006/main">
            <a:off x="5791200" y="2886075"/>
            <a:ext cx="514350" cy="38100"/>
          </a:xfrm>
          <a:prstGeom xmlns:a="http://schemas.openxmlformats.org/drawingml/2006/main" prst="rect">
            <a:avLst/>
          </a:prstGeom>
          <a:solidFill xmlns:a="http://schemas.openxmlformats.org/drawingml/2006/main">
            <a:srgbClr val="35B7C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590884-3B62-4333-B502-B8A7DBFD1BAF}"/>
              </a:ext>
            </a:extLst>
          </p:cNvPr>
          <p:cNvSpPr>
            <a:spLocks xmlns:a="http://schemas.openxmlformats.org/drawingml/2006/main" noGrp="1"/>
          </p:cNvSpPr>
          <p:nvPr/>
        </p:nvSpPr>
        <p:spPr>
          <a:xfrm xmlns:a="http://schemas.openxmlformats.org/drawingml/2006/main">
            <a:off x="5791200" y="310515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End-to-end workflows</a:t>
            </a:r>
          </a:p>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for operational roles</a:t>
            </a:r>
          </a:p>
        </p:txBody>
      </p:sp>
      <p:sp>
        <p:nvSpPr>
          <p:cNvPr id="18" name="">
            <a:extLst xmlns:a="http://schemas.openxmlformats.org/drawingml/2006/main">
              <a:ext uri="{FF2B5EF4-FFF2-40B4-BE49-F238E27FC236}">
                <a16:creationId xmlns:a16="http://schemas.microsoft.com/office/drawing/2014/main" id="{F5B21F21-4FE7-4FE8-9F08-78C63B45291E}"/>
              </a:ext>
            </a:extLst>
          </p:cNvPr>
          <p:cNvSpPr>
            <a:spLocks xmlns:a="http://schemas.openxmlformats.org/drawingml/2006/main" noGrp="1"/>
          </p:cNvSpPr>
          <p:nvPr/>
        </p:nvSpPr>
        <p:spPr>
          <a:xfrm xmlns:a="http://schemas.openxmlformats.org/drawingml/2006/main">
            <a:off x="5791200" y="40195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078E96"/>
                </a:solidFill>
                <a:latin typeface="Arial"/>
                <a:ea typeface="Arial"/>
                <a:cs typeface="Arial"/>
              </a:defRPr>
            </a:pPr>
            <a:r>
              <a:rPr sz="1275" b="1">
                <a:solidFill>
                  <a:srgbClr val="078E96"/>
                </a:solidFill>
                <a:latin typeface="Arial"/>
                <a:ea typeface="Arial"/>
                <a:cs typeface="Arial"/>
              </a:rPr>
              <a:t>Round 2: 60 / 60 passed</a:t>
            </a:r>
          </a:p>
        </p:txBody>
      </p:sp>
      <p:sp>
        <p:nvSpPr>
          <p:cNvPr id="19" name="">
            <a:extLst xmlns:a="http://schemas.openxmlformats.org/drawingml/2006/main">
              <a:ext uri="{FF2B5EF4-FFF2-40B4-BE49-F238E27FC236}">
                <a16:creationId xmlns:a16="http://schemas.microsoft.com/office/drawing/2014/main" id="{2C008479-AE82-4CFC-9DD8-8683B79409D2}"/>
              </a:ext>
            </a:extLst>
          </p:cNvPr>
          <p:cNvSpPr>
            <a:spLocks xmlns:a="http://schemas.openxmlformats.org/drawingml/2006/main" noGrp="1"/>
          </p:cNvSpPr>
          <p:nvPr/>
        </p:nvSpPr>
        <p:spPr>
          <a:xfrm xmlns:a="http://schemas.openxmlformats.org/drawingml/2006/main">
            <a:off x="8105775" y="1952625"/>
            <a:ext cx="2143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1">
                <a:solidFill>
                  <a:srgbClr val="35B7C7"/>
                </a:solidFill>
                <a:latin typeface="Arial"/>
                <a:ea typeface="Arial"/>
                <a:cs typeface="Arial"/>
              </a:defRPr>
            </a:pPr>
            <a:r>
              <a:rPr sz="2175" b="1">
                <a:solidFill>
                  <a:srgbClr val="35B7C7"/>
                </a:solidFill>
                <a:latin typeface="Arial"/>
                <a:ea typeface="Arial"/>
                <a:cs typeface="Arial"/>
              </a:rPr>
              <a:t>04</a:t>
            </a:r>
          </a:p>
        </p:txBody>
      </p:sp>
      <p:sp>
        <p:nvSpPr>
          <p:cNvPr id="20" name="">
            <a:extLst xmlns:a="http://schemas.openxmlformats.org/drawingml/2006/main">
              <a:ext uri="{FF2B5EF4-FFF2-40B4-BE49-F238E27FC236}">
                <a16:creationId xmlns:a16="http://schemas.microsoft.com/office/drawing/2014/main" id="{499FEBE4-5480-4A68-9405-304CCD8756C2}"/>
              </a:ext>
            </a:extLst>
          </p:cNvPr>
          <p:cNvSpPr>
            <a:spLocks xmlns:a="http://schemas.openxmlformats.org/drawingml/2006/main" noGrp="1"/>
          </p:cNvSpPr>
          <p:nvPr/>
        </p:nvSpPr>
        <p:spPr>
          <a:xfrm xmlns:a="http://schemas.openxmlformats.org/drawingml/2006/main">
            <a:off x="8105775" y="2390775"/>
            <a:ext cx="214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Acceptance Test</a:t>
            </a:r>
          </a:p>
        </p:txBody>
      </p:sp>
      <p:sp>
        <p:nvSpPr>
          <p:cNvPr id="21" name="">
            <a:extLst xmlns:a="http://schemas.openxmlformats.org/drawingml/2006/main">
              <a:ext uri="{FF2B5EF4-FFF2-40B4-BE49-F238E27FC236}">
                <a16:creationId xmlns:a16="http://schemas.microsoft.com/office/drawing/2014/main" id="{118F83EF-C902-4B0D-A65E-FFD1F32A94F1}"/>
              </a:ext>
            </a:extLst>
          </p:cNvPr>
          <p:cNvSpPr>
            <a:spLocks xmlns:a="http://schemas.openxmlformats.org/drawingml/2006/main" noGrp="1"/>
          </p:cNvSpPr>
          <p:nvPr/>
        </p:nvSpPr>
        <p:spPr>
          <a:xfrm xmlns:a="http://schemas.openxmlformats.org/drawingml/2006/main">
            <a:off x="8105775" y="2886075"/>
            <a:ext cx="514350" cy="38100"/>
          </a:xfrm>
          <a:prstGeom xmlns:a="http://schemas.openxmlformats.org/drawingml/2006/main" prst="rect">
            <a:avLst/>
          </a:prstGeom>
          <a:solidFill xmlns:a="http://schemas.openxmlformats.org/drawingml/2006/main">
            <a:srgbClr val="35B7C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63D420B-2EEB-48DB-B250-BEE2A087D8D4}"/>
              </a:ext>
            </a:extLst>
          </p:cNvPr>
          <p:cNvSpPr>
            <a:spLocks xmlns:a="http://schemas.openxmlformats.org/drawingml/2006/main" noGrp="1"/>
          </p:cNvSpPr>
          <p:nvPr/>
        </p:nvSpPr>
        <p:spPr>
          <a:xfrm xmlns:a="http://schemas.openxmlformats.org/drawingml/2006/main">
            <a:off x="8105775" y="3105150"/>
            <a:ext cx="2143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User-facing requirements</a:t>
            </a:r>
          </a:p>
          <a:p xmlns:a="http://schemas.openxmlformats.org/drawingml/2006/main">
            <a:pPr algn="l">
              <a:defRPr sz="1275" b="0">
                <a:solidFill>
                  <a:srgbClr val="4E5963"/>
                </a:solidFill>
                <a:latin typeface="Arial"/>
                <a:ea typeface="Arial"/>
                <a:cs typeface="Arial"/>
              </a:defRPr>
            </a:pPr>
            <a:r>
              <a:rPr sz="1275" b="0">
                <a:solidFill>
                  <a:srgbClr val="4E5963"/>
                </a:solidFill>
                <a:latin typeface="Arial"/>
                <a:ea typeface="Arial"/>
                <a:cs typeface="Arial"/>
              </a:rPr>
              <a:t>and business scenarios</a:t>
            </a:r>
          </a:p>
        </p:txBody>
      </p:sp>
      <p:sp>
        <p:nvSpPr>
          <p:cNvPr id="23" name="">
            <a:extLst xmlns:a="http://schemas.openxmlformats.org/drawingml/2006/main">
              <a:ext uri="{FF2B5EF4-FFF2-40B4-BE49-F238E27FC236}">
                <a16:creationId xmlns:a16="http://schemas.microsoft.com/office/drawing/2014/main" id="{1ABB6F33-F917-41EC-9550-71D5AC9DB0F1}"/>
              </a:ext>
            </a:extLst>
          </p:cNvPr>
          <p:cNvSpPr>
            <a:spLocks xmlns:a="http://schemas.openxmlformats.org/drawingml/2006/main" noGrp="1"/>
          </p:cNvSpPr>
          <p:nvPr/>
        </p:nvSpPr>
        <p:spPr>
          <a:xfrm xmlns:a="http://schemas.openxmlformats.org/drawingml/2006/main">
            <a:off x="8105775" y="4019550"/>
            <a:ext cx="214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078E96"/>
                </a:solidFill>
                <a:latin typeface="Arial"/>
                <a:ea typeface="Arial"/>
                <a:cs typeface="Arial"/>
              </a:defRPr>
            </a:pPr>
            <a:r>
              <a:rPr sz="1275" b="1">
                <a:solidFill>
                  <a:srgbClr val="078E96"/>
                </a:solidFill>
                <a:latin typeface="Arial"/>
                <a:ea typeface="Arial"/>
                <a:cs typeface="Arial"/>
              </a:rPr>
              <a:t>110 / 110 TRUE</a:t>
            </a:r>
          </a:p>
        </p:txBody>
      </p:sp>
    </p:spTree>
    <p:extLst>
      <p:ext uri="{BB962C8B-B14F-4D97-AF65-F5344CB8AC3E}">
        <p14:creationId xmlns:p14="http://schemas.microsoft.com/office/powerpoint/2010/main" val="1782034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2026-09-22T15:40:51.6380000Z</dcterms:created>
  <dcterms:modified xsi:type="dcterms:W3CDTF">2026-09-22T15:40:51.6380000Z</dcterms:modified>
</coreProperties>
</file>